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EDEB3A-7533-9047-C08B-0152C88E3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741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Global Air Quality Index</a:t>
            </a:r>
          </a:p>
          <a:p>
            <a:pPr>
              <a:defRPr sz="2100">
                <a:solidFill>
                  <a:srgbClr val="CBD5E1"/>
                </a:solidFill>
              </a:defRPr>
            </a:pPr>
            <a:r>
              <a:t>Excel Dashboard &amp; Exploratory Analysis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Data period: 21 Jul 2022 – 06 Nov 2025 • 142 countries • 21,964 observations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3749039"/>
            <a:ext cx="18288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The workbook combines a raw observation table with Excel dashboard/pivot content.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468880" cy="123444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8288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4884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B8A6"/>
                </a:solidFill>
              </a:defRPr>
            </a:pPr>
            <a:r>
              <a:t>21,964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645920"/>
            <a:ext cx="2468880" cy="123444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93008" y="18288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Countries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214884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B8A6"/>
                </a:solidFill>
              </a:defRPr>
            </a:pPr>
            <a:r>
              <a:t>142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645920"/>
            <a:ext cx="2468880" cy="123444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4768" y="18288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Average AQI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214884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B8A6"/>
                </a:solidFill>
              </a:defRPr>
            </a:pPr>
            <a:r>
              <a:t>62.4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1645920"/>
            <a:ext cx="2468880" cy="123444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96528" y="18288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Peak AQI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214884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97316"/>
                </a:solidFill>
              </a:defRPr>
            </a:pPr>
            <a:r>
              <a:t>963</a:t>
            </a:r>
          </a:p>
        </p:txBody>
      </p:sp>
      <p:pic>
        <p:nvPicPr>
          <p:cNvPr id="17" name="Picture 16" descr="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54680"/>
            <a:ext cx="5303520" cy="3409406"/>
          </a:xfrm>
          <a:prstGeom prst="rect">
            <a:avLst/>
          </a:prstGeom>
        </p:spPr>
      </p:pic>
      <p:pic>
        <p:nvPicPr>
          <p:cNvPr id="18" name="Picture 17" descr="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154680"/>
            <a:ext cx="5120640" cy="34094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the status distribution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FFFFFF"/>
                </a:solidFill>
              </a:defRPr>
            </a:pPr>
            <a:r>
              <a:t>48.5% of observations are classified as Good.</a:t>
            </a:r>
          </a:p>
          <a:p>
            <a:pPr>
              <a:spcAft>
                <a:spcPts val="1500"/>
              </a:spcAft>
              <a:defRPr sz="1700">
                <a:solidFill>
                  <a:srgbClr val="FFFFFF"/>
                </a:solidFill>
              </a:defRPr>
            </a:pPr>
            <a:r>
              <a:t>35.8% fall into Moderate air quality.</a:t>
            </a:r>
          </a:p>
          <a:p>
            <a:pPr>
              <a:spcAft>
                <a:spcPts val="1500"/>
              </a:spcAft>
              <a:defRPr sz="1700">
                <a:solidFill>
                  <a:srgbClr val="FFFFFF"/>
                </a:solidFill>
              </a:defRPr>
            </a:pPr>
            <a:r>
              <a:t>15.8% are at least Unhealthy for Sensitive Groups.</a:t>
            </a:r>
          </a:p>
          <a:p>
            <a:pPr>
              <a:spcAft>
                <a:spcPts val="1500"/>
              </a:spcAft>
              <a:defRPr sz="1700">
                <a:solidFill>
                  <a:srgbClr val="FFFFFF"/>
                </a:solidFill>
              </a:defRPr>
            </a:pPr>
            <a:r>
              <a:t>Hazardous observations account for 0.5%, but extreme AQI spikes materially affect the maximum.</a:t>
            </a:r>
          </a:p>
        </p:txBody>
      </p:sp>
      <p:pic>
        <p:nvPicPr>
          <p:cNvPr id="5" name="Picture 4" descr="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554480"/>
            <a:ext cx="6675120" cy="42911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Country-level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Average AQI varies sharply across countries in the dataset.</a:t>
            </a:r>
          </a:p>
        </p:txBody>
      </p:sp>
      <p:pic>
        <p:nvPicPr>
          <p:cNvPr id="5" name="Picture 4" descr="top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858000" cy="428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645920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Highest average AQI: India (219.8).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China follows at 173.3, then Iraq (155.1) and Iran (152.9).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Among the lowest averages: Guam (3.1), Cayman Islands (10.4), and Brunei (11.7).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Peak observations reach 963 in China and 946 in India.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Temporal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The dataset shows recurring periods of higher global-average AQI, especially around winter 2024–25.</a:t>
            </a:r>
          </a:p>
        </p:txBody>
      </p:sp>
      <p:pic>
        <p:nvPicPr>
          <p:cNvPr id="5" name="Picture 4" descr="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Highest monthly averages: Feb 2025 (81.7), Jan 2025 (80.9), Dec 2024 (76.2). Lowest months cluster around mid/late 2025.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Dashboard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The Excel dashboard turns the raw observation table into an interactive global AQI explorer.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377440" cy="9144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6459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Avg AQI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6596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B8A6"/>
                </a:solidFill>
              </a:defRPr>
            </a:pPr>
            <a:r>
              <a:t>62.4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463040"/>
            <a:ext cx="2377440" cy="9144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47288" y="16459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Max AQI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196596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B8A6"/>
                </a:solidFill>
              </a:defRPr>
            </a:pPr>
            <a:r>
              <a:t>963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463040"/>
            <a:ext cx="2377440" cy="9144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53328" y="16459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Countries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328" y="196596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B8A6"/>
                </a:solidFill>
              </a:defRPr>
            </a:pPr>
            <a:r>
              <a:t>142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463040"/>
            <a:ext cx="2377440" cy="9144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59368" y="16459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196596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B8A6"/>
                </a:solidFill>
              </a:defRPr>
            </a:pPr>
            <a:r>
              <a:t>21,964</a:t>
            </a:r>
          </a:p>
        </p:txBody>
      </p:sp>
      <p:pic>
        <p:nvPicPr>
          <p:cNvPr id="17" name="Picture 16" descr="top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5120640" cy="3200400"/>
          </a:xfrm>
          <a:prstGeom prst="rect">
            <a:avLst/>
          </a:prstGeom>
        </p:spPr>
      </p:pic>
      <p:pic>
        <p:nvPicPr>
          <p:cNvPr id="18" name="Picture 17" descr="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743200"/>
            <a:ext cx="53035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takeaways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B8A6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Air quality is highly heterogeneous.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39"/>
            <a:ext cx="65745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rPr dirty="0"/>
              <a:t>Country averages and extremes differ by an order of magnitude, so a single global average hides important local variation.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39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B8A6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7860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Seasonality is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560320"/>
            <a:ext cx="6492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rPr dirty="0"/>
              <a:t>The highest global-average months in this dataset occur around Dec 2024–Feb 2025.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B8A6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75887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Extreme episodes matter.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657600"/>
            <a:ext cx="6949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rPr dirty="0"/>
              <a:t>Averages are sensitive to spikes; maximum AQI reaches 963, indicating severe episodic pollution in some observations.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B8A6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77316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Interpretation needs context.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754880"/>
            <a:ext cx="6705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rPr dirty="0"/>
              <a:t>The workbook is an AQI observation dataset, not a causal study. Country coverage is uneven, and AQI scales/data provenance should be documented before comparing jurisdictions directly.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GitHub Repository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https://github.com/Er-Rajas/AQI-excel-dashboard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Includes the Excel workbook and project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371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Rajas Bhingarde</cp:lastModifiedBy>
  <cp:revision>3</cp:revision>
  <dcterms:created xsi:type="dcterms:W3CDTF">2013-01-27T09:14:16Z</dcterms:created>
  <dcterms:modified xsi:type="dcterms:W3CDTF">2026-09-23T08:19:50Z</dcterms:modified>
  <cp:category/>
</cp:coreProperties>
</file>